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Economica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boldItalic.fntdata"/><Relationship Id="rId11" Type="http://schemas.openxmlformats.org/officeDocument/2006/relationships/slide" Target="slides/slide6.xml"/><Relationship Id="rId22" Type="http://schemas.openxmlformats.org/officeDocument/2006/relationships/font" Target="fonts/OpenSans-bold.fntdata"/><Relationship Id="rId10" Type="http://schemas.openxmlformats.org/officeDocument/2006/relationships/slide" Target="slides/slide5.xml"/><Relationship Id="rId21" Type="http://schemas.openxmlformats.org/officeDocument/2006/relationships/font" Target="fonts/OpenSans-regular.fntdata"/><Relationship Id="rId13" Type="http://schemas.openxmlformats.org/officeDocument/2006/relationships/slide" Target="slides/slide8.xml"/><Relationship Id="rId24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Economica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Economica-italic.fntdata"/><Relationship Id="rId6" Type="http://schemas.openxmlformats.org/officeDocument/2006/relationships/slide" Target="slides/slide1.xml"/><Relationship Id="rId18" Type="http://schemas.openxmlformats.org/officeDocument/2006/relationships/font" Target="fonts/Economic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3c35624ca_2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e3c35624ca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3c35624ca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e3c35624c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3c35624ca_2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e3c35624ca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3c35624ca_2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e3c35624ca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3c35624ca_2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e3c35624ca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3c35624ca_2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e3c35624ca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3c35624ca_2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e3c35624ca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3c35624ca_2_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e3c35624ca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3c35624ca_2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e3c35624ca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3c35624ca_2_1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e3c35624ca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3c35624ca_2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e3c35624ca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2" name="Google Shape;22;p4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and body (g3e4213edb7a_22_0)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 and body (g3e4213edb7a_29_0)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 and body (g3e4213edb7a_36_0)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4">
  <p:cSld name="Title and body (g3e4213edb7a_43_0)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ctrTitle"/>
          </p:nvPr>
        </p:nvSpPr>
        <p:spPr>
          <a:xfrm>
            <a:off x="2737500" y="522150"/>
            <a:ext cx="62001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sz="2400"/>
              <a:t>Веб-застосунок для розвитку когнітивних навичок (фронтенд)</a:t>
            </a:r>
            <a:endParaRPr sz="2400"/>
          </a:p>
        </p:txBody>
      </p:sp>
      <p:sp>
        <p:nvSpPr>
          <p:cNvPr id="79" name="Google Shape;79;p17"/>
          <p:cNvSpPr txBox="1"/>
          <p:nvPr>
            <p:ph idx="1" type="subTitle"/>
          </p:nvPr>
        </p:nvSpPr>
        <p:spPr>
          <a:xfrm>
            <a:off x="1948250" y="3515325"/>
            <a:ext cx="5087400" cy="15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-GB"/>
              <a:t>Барабанов Роман Петрович, ПЗПІ-23-4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-GB"/>
              <a:t>Керівник: доц. кафедри ПІ Ілона Ревенчук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-GB"/>
              <a:t>21 травня 2026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285750"/>
            <a:ext cx="8520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9525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3200">
                <a:solidFill>
                  <a:srgbClr val="1A202C"/>
                </a:solidFill>
              </a:rPr>
              <a:t>Аналіз предметної галузі</a:t>
            </a:r>
            <a:endParaRPr i="0" sz="3200">
              <a:solidFill>
                <a:srgbClr val="1A202C"/>
              </a:solidFill>
            </a:endParaRPr>
          </a:p>
        </p:txBody>
      </p:sp>
      <p:grpSp>
        <p:nvGrpSpPr>
          <p:cNvPr id="88" name="Google Shape;88;p18"/>
          <p:cNvGrpSpPr/>
          <p:nvPr/>
        </p:nvGrpSpPr>
        <p:grpSpPr>
          <a:xfrm>
            <a:off x="381000" y="1047750"/>
            <a:ext cx="8382150" cy="3238500"/>
            <a:chOff x="381000" y="1047750"/>
            <a:chExt cx="8382150" cy="3238500"/>
          </a:xfrm>
        </p:grpSpPr>
        <p:sp>
          <p:nvSpPr>
            <p:cNvPr id="89" name="Google Shape;89;p18"/>
            <p:cNvSpPr/>
            <p:nvPr/>
          </p:nvSpPr>
          <p:spPr>
            <a:xfrm>
              <a:off x="381000" y="1047750"/>
              <a:ext cx="4095900" cy="1524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9525">
              <a:solidFill>
                <a:srgbClr val="CCA6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8"/>
            <p:cNvSpPr txBox="1"/>
            <p:nvPr/>
          </p:nvSpPr>
          <p:spPr>
            <a:xfrm>
              <a:off x="476250" y="1143000"/>
              <a:ext cx="39054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CCA677"/>
                  </a:solidFill>
                  <a:latin typeface="Open Sans"/>
                  <a:ea typeface="Open Sans"/>
                  <a:cs typeface="Open Sans"/>
                  <a:sym typeface="Open Sans"/>
                </a:rPr>
                <a:t>Об'єкт дослідження</a:t>
              </a:r>
              <a:endParaRPr b="1" sz="1300">
                <a:solidFill>
                  <a:srgbClr val="CCA677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2D3748"/>
                  </a:solidFill>
                  <a:latin typeface="Open Sans"/>
                  <a:ea typeface="Open Sans"/>
                  <a:cs typeface="Open Sans"/>
                  <a:sym typeface="Open Sans"/>
                </a:rPr>
                <a:t>Frontend платформи «Treatise» для написання, публікації та рецензування текстів.</a:t>
              </a:r>
              <a:endParaRPr sz="110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1" name="Google Shape;91;p18"/>
            <p:cNvSpPr/>
            <p:nvPr/>
          </p:nvSpPr>
          <p:spPr>
            <a:xfrm>
              <a:off x="4667250" y="1047750"/>
              <a:ext cx="4095900" cy="1524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9525">
              <a:solidFill>
                <a:srgbClr val="CCA6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8"/>
            <p:cNvSpPr txBox="1"/>
            <p:nvPr/>
          </p:nvSpPr>
          <p:spPr>
            <a:xfrm>
              <a:off x="4762500" y="1143000"/>
              <a:ext cx="39054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CCA677"/>
                  </a:solidFill>
                  <a:latin typeface="Open Sans"/>
                  <a:ea typeface="Open Sans"/>
                  <a:cs typeface="Open Sans"/>
                  <a:sym typeface="Open Sans"/>
                </a:rPr>
                <a:t>Проблема та рішення</a:t>
              </a:r>
              <a:endParaRPr b="1" sz="1300">
                <a:solidFill>
                  <a:srgbClr val="CCA677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2D3748"/>
                  </a:solidFill>
                  <a:latin typeface="Open Sans"/>
                  <a:ea typeface="Open Sans"/>
                  <a:cs typeface="Open Sans"/>
                  <a:sym typeface="Open Sans"/>
                </a:rPr>
                <a:t>Масове застосування ШІ знижує когнітивні навички. Treatise вирішує це через практику рецензування.</a:t>
              </a:r>
              <a:endParaRPr sz="110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3" name="Google Shape;93;p18"/>
            <p:cNvSpPr/>
            <p:nvPr/>
          </p:nvSpPr>
          <p:spPr>
            <a:xfrm>
              <a:off x="381000" y="2762250"/>
              <a:ext cx="4095900" cy="1524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9525">
              <a:solidFill>
                <a:srgbClr val="CCA6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8"/>
            <p:cNvSpPr txBox="1"/>
            <p:nvPr/>
          </p:nvSpPr>
          <p:spPr>
            <a:xfrm>
              <a:off x="476250" y="2857500"/>
              <a:ext cx="39054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CCA677"/>
                  </a:solidFill>
                  <a:latin typeface="Open Sans"/>
                  <a:ea typeface="Open Sans"/>
                  <a:cs typeface="Open Sans"/>
                  <a:sym typeface="Open Sans"/>
                </a:rPr>
                <a:t>Архітектурний підхід</a:t>
              </a:r>
              <a:endParaRPr b="1" sz="1300">
                <a:solidFill>
                  <a:srgbClr val="CCA677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2D3748"/>
                  </a:solidFill>
                  <a:latin typeface="Open Sans"/>
                  <a:ea typeface="Open Sans"/>
                  <a:cs typeface="Open Sans"/>
                  <a:sym typeface="Open Sans"/>
                </a:rPr>
                <a:t>SPA-архітектура (Vue.js 3) забезпечує швидкість, плавність та UX рівня нативного застосунку.</a:t>
              </a:r>
              <a:endParaRPr sz="110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5" name="Google Shape;95;p18"/>
            <p:cNvSpPr/>
            <p:nvPr/>
          </p:nvSpPr>
          <p:spPr>
            <a:xfrm>
              <a:off x="4667250" y="2762250"/>
              <a:ext cx="4095900" cy="1524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9525">
              <a:solidFill>
                <a:srgbClr val="CCA6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8"/>
            <p:cNvSpPr txBox="1"/>
            <p:nvPr/>
          </p:nvSpPr>
          <p:spPr>
            <a:xfrm>
              <a:off x="4762500" y="2857500"/>
              <a:ext cx="39054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CCA677"/>
                  </a:solidFill>
                  <a:latin typeface="Open Sans"/>
                  <a:ea typeface="Open Sans"/>
                  <a:cs typeface="Open Sans"/>
                  <a:sym typeface="Open Sans"/>
                </a:rPr>
                <a:t>Рольова модель</a:t>
              </a:r>
              <a:endParaRPr b="1" sz="1300">
                <a:solidFill>
                  <a:srgbClr val="CCA677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2D3748"/>
                  </a:solidFill>
                  <a:latin typeface="Open Sans"/>
                  <a:ea typeface="Open Sans"/>
                  <a:cs typeface="Open Sans"/>
                  <a:sym typeface="Open Sans"/>
                </a:rPr>
                <a:t>Автор, Читач, Експерт — кожна роль потребує окремих Views та захищених маршрутів.</a:t>
              </a:r>
              <a:endParaRPr sz="110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925" y="4359497"/>
            <a:ext cx="862200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778240" y="4606349"/>
            <a:ext cx="2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0" y="5045697"/>
            <a:ext cx="9144000" cy="97800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190500"/>
            <a:ext cx="8520600" cy="83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Аналіз аналогів програмного забезпечення</a:t>
            </a:r>
            <a:endParaRPr b="0" sz="3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pSp>
        <p:nvGrpSpPr>
          <p:cNvPr id="106" name="Google Shape;106;p19"/>
          <p:cNvGrpSpPr/>
          <p:nvPr/>
        </p:nvGrpSpPr>
        <p:grpSpPr>
          <a:xfrm>
            <a:off x="381000" y="1333500"/>
            <a:ext cx="8382000" cy="2667000"/>
            <a:chOff x="381000" y="1333500"/>
            <a:chExt cx="8382000" cy="2667000"/>
          </a:xfrm>
        </p:grpSpPr>
        <p:sp>
          <p:nvSpPr>
            <p:cNvPr id="107" name="Google Shape;107;p19"/>
            <p:cNvSpPr/>
            <p:nvPr/>
          </p:nvSpPr>
          <p:spPr>
            <a:xfrm>
              <a:off x="381000" y="1333500"/>
              <a:ext cx="2667000" cy="2667000"/>
            </a:xfrm>
            <a:prstGeom prst="roundRect">
              <a:avLst>
                <a:gd fmla="val 3571" name="adj"/>
              </a:avLst>
            </a:prstGeom>
            <a:solidFill>
              <a:srgbClr val="F8F9FA"/>
            </a:solidFill>
            <a:ln cap="flat" cmpd="sng" w="9525">
              <a:solidFill>
                <a:srgbClr val="CCA6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9"/>
            <p:cNvSpPr txBox="1"/>
            <p:nvPr/>
          </p:nvSpPr>
          <p:spPr>
            <a:xfrm>
              <a:off x="476250" y="142875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Medium</a:t>
              </a:r>
              <a:endParaRPr b="1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9" name="Google Shape;109;p19"/>
            <p:cNvSpPr txBox="1"/>
            <p:nvPr/>
          </p:nvSpPr>
          <p:spPr>
            <a:xfrm>
              <a:off x="476250" y="1905000"/>
              <a:ext cx="2476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Мінімалістичний UI, персоналізована стрічка — взятий за зразок дизайн публікацій.</a:t>
              </a:r>
              <a:endParaRPr b="0" sz="13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C53030"/>
                  </a:solidFill>
                  <a:latin typeface="Open Sans"/>
                  <a:ea typeface="Open Sans"/>
                  <a:cs typeface="Open Sans"/>
                  <a:sym typeface="Open Sans"/>
                </a:rPr>
                <a:t>Немає Markdown та рецензування</a:t>
              </a:r>
              <a:endParaRPr b="1" sz="1300">
                <a:solidFill>
                  <a:srgbClr val="C5303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0" name="Google Shape;110;p19"/>
            <p:cNvSpPr/>
            <p:nvPr/>
          </p:nvSpPr>
          <p:spPr>
            <a:xfrm>
              <a:off x="3238500" y="1333500"/>
              <a:ext cx="2667000" cy="2667000"/>
            </a:xfrm>
            <a:prstGeom prst="roundRect">
              <a:avLst>
                <a:gd fmla="val 3571" name="adj"/>
              </a:avLst>
            </a:prstGeom>
            <a:solidFill>
              <a:srgbClr val="F8F9FA"/>
            </a:solidFill>
            <a:ln cap="flat" cmpd="sng" w="9525">
              <a:solidFill>
                <a:srgbClr val="CCA6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9"/>
            <p:cNvSpPr txBox="1"/>
            <p:nvPr/>
          </p:nvSpPr>
          <p:spPr>
            <a:xfrm>
              <a:off x="3333750" y="142875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Google Docs</a:t>
              </a:r>
              <a:endParaRPr b="1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2" name="Google Shape;112;p19"/>
            <p:cNvSpPr txBox="1"/>
            <p:nvPr/>
          </p:nvSpPr>
          <p:spPr>
            <a:xfrm>
              <a:off x="3333750" y="1905000"/>
              <a:ext cx="2476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Еталон прив’язки коментарів до фрагментів тексту — референс для ReviewEditorView.</a:t>
              </a:r>
              <a:endParaRPr b="0" sz="13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C53030"/>
                  </a:solidFill>
                  <a:latin typeface="Open Sans"/>
                  <a:ea typeface="Open Sans"/>
                  <a:cs typeface="Open Sans"/>
                  <a:sym typeface="Open Sans"/>
                </a:rPr>
                <a:t>Ізольовані документи без ролей та рейтингів</a:t>
              </a:r>
              <a:endParaRPr b="1" sz="1300">
                <a:solidFill>
                  <a:srgbClr val="C5303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3" name="Google Shape;113;p19"/>
            <p:cNvSpPr/>
            <p:nvPr/>
          </p:nvSpPr>
          <p:spPr>
            <a:xfrm>
              <a:off x="6096000" y="1333500"/>
              <a:ext cx="2667000" cy="2667000"/>
            </a:xfrm>
            <a:prstGeom prst="roundRect">
              <a:avLst>
                <a:gd fmla="val 3571" name="adj"/>
              </a:avLst>
            </a:prstGeom>
            <a:solidFill>
              <a:srgbClr val="F8F9FA"/>
            </a:solidFill>
            <a:ln cap="flat" cmpd="sng" w="9525">
              <a:solidFill>
                <a:srgbClr val="CCA6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9"/>
            <p:cNvSpPr txBox="1"/>
            <p:nvPr/>
          </p:nvSpPr>
          <p:spPr>
            <a:xfrm>
              <a:off x="6191250" y="142875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Upwork</a:t>
              </a:r>
              <a:endParaRPr b="1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19"/>
            <p:cNvSpPr txBox="1"/>
            <p:nvPr/>
          </p:nvSpPr>
          <p:spPr>
            <a:xfrm>
              <a:off x="6191250" y="1905000"/>
              <a:ext cx="2476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Продуманий інтерфейс біржі з фільтрами та картками — зразок для біржі Експертів.</a:t>
              </a:r>
              <a:endParaRPr b="0" sz="13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C53030"/>
                  </a:solidFill>
                  <a:latin typeface="Open Sans"/>
                  <a:ea typeface="Open Sans"/>
                  <a:cs typeface="Open Sans"/>
                  <a:sym typeface="Open Sans"/>
                </a:rPr>
                <a:t>Відокремлений від тексту, без вбудованого workspace</a:t>
              </a:r>
              <a:endParaRPr b="1" sz="1300">
                <a:solidFill>
                  <a:srgbClr val="C5303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16" name="Google Shape;1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8778240" y="4606349"/>
            <a:ext cx="2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285750"/>
            <a:ext cx="8520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9525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>
                <a:solidFill>
                  <a:srgbClr val="1A202C"/>
                </a:solidFill>
                <a:latin typeface="Economica"/>
                <a:ea typeface="Economica"/>
                <a:cs typeface="Economica"/>
                <a:sym typeface="Economica"/>
              </a:rPr>
              <a:t>Постановка задачі та опис системи</a:t>
            </a:r>
            <a:endParaRPr b="0" i="0" sz="3200">
              <a:solidFill>
                <a:srgbClr val="1A202C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pSp>
        <p:nvGrpSpPr>
          <p:cNvPr id="124" name="Google Shape;124;p20"/>
          <p:cNvGrpSpPr/>
          <p:nvPr/>
        </p:nvGrpSpPr>
        <p:grpSpPr>
          <a:xfrm>
            <a:off x="311700" y="1000125"/>
            <a:ext cx="8520600" cy="2952750"/>
            <a:chOff x="311700" y="1000125"/>
            <a:chExt cx="8520600" cy="2952750"/>
          </a:xfrm>
        </p:grpSpPr>
        <p:sp>
          <p:nvSpPr>
            <p:cNvPr id="125" name="Google Shape;125;p20"/>
            <p:cNvSpPr/>
            <p:nvPr/>
          </p:nvSpPr>
          <p:spPr>
            <a:xfrm>
              <a:off x="311700" y="1000125"/>
              <a:ext cx="8520600" cy="762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CCA6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0"/>
            <p:cNvSpPr txBox="1"/>
            <p:nvPr/>
          </p:nvSpPr>
          <p:spPr>
            <a:xfrm>
              <a:off x="311700" y="1000125"/>
              <a:ext cx="8520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CCA677"/>
                  </a:solidFill>
                  <a:latin typeface="Open Sans"/>
                  <a:ea typeface="Open Sans"/>
                  <a:cs typeface="Open Sans"/>
                  <a:sym typeface="Open Sans"/>
                </a:rPr>
                <a:t>Мета проєкту</a:t>
              </a:r>
              <a:endParaRPr b="1" sz="1400">
                <a:solidFill>
                  <a:srgbClr val="CCA677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50">
                  <a:solidFill>
                    <a:srgbClr val="2D3748"/>
                  </a:solidFill>
                  <a:latin typeface="Open Sans"/>
                  <a:ea typeface="Open Sans"/>
                  <a:cs typeface="Open Sans"/>
                  <a:sym typeface="Open Sans"/>
                </a:rPr>
                <a:t>SPA-застосунок Treatise для трьох ролей — Автор, Читач, Експерт</a:t>
              </a:r>
              <a:endParaRPr b="0" sz="11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7" name="Google Shape;127;p20"/>
            <p:cNvSpPr/>
            <p:nvPr/>
          </p:nvSpPr>
          <p:spPr>
            <a:xfrm>
              <a:off x="311700" y="1905000"/>
              <a:ext cx="4143300" cy="11430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CCA6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0"/>
            <p:cNvSpPr txBox="1"/>
            <p:nvPr/>
          </p:nvSpPr>
          <p:spPr>
            <a:xfrm>
              <a:off x="311700" y="1905000"/>
              <a:ext cx="41433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CCA677"/>
                  </a:solidFill>
                  <a:latin typeface="Open Sans"/>
                  <a:ea typeface="Open Sans"/>
                  <a:cs typeface="Open Sans"/>
                  <a:sym typeface="Open Sans"/>
                </a:rPr>
                <a:t>Контент та Редагування</a:t>
              </a:r>
              <a:endParaRPr b="1" sz="1200">
                <a:solidFill>
                  <a:srgbClr val="CCA677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D3748"/>
                </a:buClr>
                <a:buSzPts val="1050"/>
                <a:buFont typeface="Open Sans"/>
                <a:buChar char="●"/>
              </a:pPr>
              <a:r>
                <a:rPr lang="en-GB" sz="1050">
                  <a:solidFill>
                    <a:srgbClr val="2D3748"/>
                  </a:solidFill>
                  <a:latin typeface="Open Sans"/>
                  <a:ea typeface="Open Sans"/>
                  <a:cs typeface="Open Sans"/>
                  <a:sym typeface="Open Sans"/>
                </a:rPr>
                <a:t>Стрічка публікацій із пошуком та фільтрацією</a:t>
              </a:r>
              <a:endParaRPr sz="10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2D3748"/>
                </a:buClr>
                <a:buSzPts val="1050"/>
                <a:buFont typeface="Open Sans"/>
                <a:buChar char="●"/>
              </a:pPr>
              <a:r>
                <a:rPr lang="en-GB" sz="1050">
                  <a:solidFill>
                    <a:srgbClr val="2D3748"/>
                  </a:solidFill>
                  <a:latin typeface="Open Sans"/>
                  <a:ea typeface="Open Sans"/>
                  <a:cs typeface="Open Sans"/>
                  <a:sym typeface="Open Sans"/>
                </a:rPr>
                <a:t>Markdown-редактор CommonMark 0.31.2 з Live Preview</a:t>
              </a:r>
              <a:endParaRPr sz="10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9" name="Google Shape;129;p20"/>
            <p:cNvSpPr/>
            <p:nvPr/>
          </p:nvSpPr>
          <p:spPr>
            <a:xfrm>
              <a:off x="4688872" y="1905000"/>
              <a:ext cx="4143300" cy="11430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CCA6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0"/>
            <p:cNvSpPr txBox="1"/>
            <p:nvPr/>
          </p:nvSpPr>
          <p:spPr>
            <a:xfrm>
              <a:off x="4688872" y="1905000"/>
              <a:ext cx="41433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CCA677"/>
                  </a:solidFill>
                  <a:latin typeface="Open Sans"/>
                  <a:ea typeface="Open Sans"/>
                  <a:cs typeface="Open Sans"/>
                  <a:sym typeface="Open Sans"/>
                </a:rPr>
                <a:t>Рецензування та Спільнота</a:t>
              </a:r>
              <a:endParaRPr b="1" sz="1200">
                <a:solidFill>
                  <a:srgbClr val="CCA677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D3748"/>
                </a:buClr>
                <a:buSzPts val="1050"/>
                <a:buFont typeface="Open Sans"/>
                <a:buChar char="●"/>
              </a:pPr>
              <a:r>
                <a:rPr lang="en-GB" sz="1050">
                  <a:solidFill>
                    <a:srgbClr val="2D3748"/>
                  </a:solidFill>
                  <a:latin typeface="Open Sans"/>
                  <a:ea typeface="Open Sans"/>
                  <a:cs typeface="Open Sans"/>
                  <a:sym typeface="Open Sans"/>
                </a:rPr>
                <a:t>ReviewEditorView: Selection API та 6 типів зауважень</a:t>
              </a:r>
              <a:endParaRPr sz="10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2D3748"/>
                </a:buClr>
                <a:buSzPts val="1050"/>
                <a:buFont typeface="Open Sans"/>
                <a:buChar char="●"/>
              </a:pPr>
              <a:r>
                <a:rPr lang="en-GB" sz="1050">
                  <a:solidFill>
                    <a:srgbClr val="2D3748"/>
                  </a:solidFill>
                  <a:latin typeface="Open Sans"/>
                  <a:ea typeface="Open Sans"/>
                  <a:cs typeface="Open Sans"/>
                  <a:sym typeface="Open Sans"/>
                </a:rPr>
                <a:t>Біржа експертів із картками та фільтрами</a:t>
              </a:r>
              <a:endParaRPr sz="10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1" name="Google Shape;131;p20"/>
            <p:cNvSpPr/>
            <p:nvPr/>
          </p:nvSpPr>
          <p:spPr>
            <a:xfrm>
              <a:off x="311700" y="3190875"/>
              <a:ext cx="8520600" cy="762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CCA6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0"/>
            <p:cNvSpPr txBox="1"/>
            <p:nvPr/>
          </p:nvSpPr>
          <p:spPr>
            <a:xfrm>
              <a:off x="311700" y="3190875"/>
              <a:ext cx="8520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CCA677"/>
                  </a:solidFill>
                  <a:latin typeface="Open Sans"/>
                  <a:ea typeface="Open Sans"/>
                  <a:cs typeface="Open Sans"/>
                  <a:sym typeface="Open Sans"/>
                </a:rPr>
                <a:t>Фінансовий модуль</a:t>
              </a:r>
              <a:endParaRPr b="1" sz="1200">
                <a:solidFill>
                  <a:srgbClr val="CCA677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2D3748"/>
                  </a:solidFill>
                  <a:latin typeface="Open Sans"/>
                  <a:ea typeface="Open Sans"/>
                  <a:cs typeface="Open Sans"/>
                  <a:sym typeface="Open Sans"/>
                </a:rPr>
                <a:t>Електронний гаманець на базі архітектури Unidirectional Data Flow</a:t>
              </a:r>
              <a:endParaRPr b="0" sz="10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33" name="Google Shape;13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/>
        </p:nvSpPr>
        <p:spPr>
          <a:xfrm>
            <a:off x="8778240" y="4606349"/>
            <a:ext cx="2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sz="3200"/>
              <a:t>Компонентна структура та управління станом системи</a:t>
            </a:r>
            <a:endParaRPr sz="3200"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11700" y="1453900"/>
            <a:ext cx="8520600" cy="3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D0D0D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21" title="Screenshot 2026-05-22 at 13.32.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3838" y="1232225"/>
            <a:ext cx="6570774" cy="30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sz="3200"/>
              <a:t>Проектування ПЗ — </a:t>
            </a:r>
            <a:r>
              <a:rPr lang="en-GB" sz="3200"/>
              <a:t>Модель прецедентів клієнтської частини</a:t>
            </a:r>
            <a:endParaRPr sz="3200"/>
          </a:p>
        </p:txBody>
      </p:sp>
      <p:pic>
        <p:nvPicPr>
          <p:cNvPr id="149" name="Google Shape;1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2" title="Screenshot 2026-05-22 at 14.04.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250" y="1065000"/>
            <a:ext cx="2856500" cy="343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sz="3200"/>
              <a:t>Проектування ПЗ — UI/UX</a:t>
            </a:r>
            <a:endParaRPr sz="3200"/>
          </a:p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283725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Колірне кодування зауважень: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311700" y="2280938"/>
            <a:ext cx="1126200" cy="2625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18775" lIns="75100" spcFirstLastPara="1" rIns="56325" wrap="square" tIns="18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Grammar</a:t>
            </a:r>
            <a:endParaRPr sz="1314"/>
          </a:p>
        </p:txBody>
      </p:sp>
      <p:sp>
        <p:nvSpPr>
          <p:cNvPr id="161" name="Google Shape;161;p23"/>
          <p:cNvSpPr/>
          <p:nvPr/>
        </p:nvSpPr>
        <p:spPr>
          <a:xfrm>
            <a:off x="1484950" y="2280938"/>
            <a:ext cx="1126200" cy="2625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18775" lIns="75100" spcFirstLastPara="1" rIns="56325" wrap="square" tIns="18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Lexicon</a:t>
            </a:r>
            <a:endParaRPr sz="1314"/>
          </a:p>
        </p:txBody>
      </p:sp>
      <p:sp>
        <p:nvSpPr>
          <p:cNvPr id="162" name="Google Shape;162;p23"/>
          <p:cNvSpPr/>
          <p:nvPr/>
        </p:nvSpPr>
        <p:spPr>
          <a:xfrm>
            <a:off x="2658199" y="2280938"/>
            <a:ext cx="1126200" cy="2625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18775" lIns="75100" spcFirstLastPara="1" rIns="56325" wrap="square" tIns="18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Structure</a:t>
            </a:r>
            <a:endParaRPr sz="1314"/>
          </a:p>
        </p:txBody>
      </p:sp>
      <p:sp>
        <p:nvSpPr>
          <p:cNvPr id="163" name="Google Shape;163;p23"/>
          <p:cNvSpPr/>
          <p:nvPr/>
        </p:nvSpPr>
        <p:spPr>
          <a:xfrm>
            <a:off x="311700" y="2600012"/>
            <a:ext cx="1126200" cy="2625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18775" lIns="75100" spcFirstLastPara="1" rIns="56325" wrap="square" tIns="18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Reasoning</a:t>
            </a:r>
            <a:endParaRPr sz="1314"/>
          </a:p>
        </p:txBody>
      </p:sp>
      <p:sp>
        <p:nvSpPr>
          <p:cNvPr id="164" name="Google Shape;164;p23"/>
          <p:cNvSpPr/>
          <p:nvPr/>
        </p:nvSpPr>
        <p:spPr>
          <a:xfrm>
            <a:off x="1484950" y="2600012"/>
            <a:ext cx="1126200" cy="2625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txBody>
          <a:bodyPr anchorCtr="0" anchor="ctr" bIns="18775" lIns="75100" spcFirstLastPara="1" rIns="56325" wrap="square" tIns="18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Consistency</a:t>
            </a:r>
            <a:endParaRPr sz="1314"/>
          </a:p>
        </p:txBody>
      </p:sp>
      <p:sp>
        <p:nvSpPr>
          <p:cNvPr id="165" name="Google Shape;165;p23"/>
          <p:cNvSpPr/>
          <p:nvPr/>
        </p:nvSpPr>
        <p:spPr>
          <a:xfrm>
            <a:off x="2658199" y="2600059"/>
            <a:ext cx="1126200" cy="2625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 anchorCtr="0" anchor="ctr" bIns="18775" lIns="75100" spcFirstLastPara="1" rIns="56325" wrap="square" tIns="18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Clarity</a:t>
            </a:r>
            <a:endParaRPr sz="1314"/>
          </a:p>
        </p:txBody>
      </p:sp>
      <p:pic>
        <p:nvPicPr>
          <p:cNvPr id="166" name="Google Shape;166;p23" title="Screenshot 2026-05-22 at 17.59.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7925" y="1288150"/>
            <a:ext cx="4411775" cy="256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4"/>
          <p:cNvSpPr txBox="1"/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sz="3200"/>
              <a:t>Засоби розробки</a:t>
            </a:r>
            <a:endParaRPr sz="3200"/>
          </a:p>
        </p:txBody>
      </p:sp>
      <p:grpSp>
        <p:nvGrpSpPr>
          <p:cNvPr id="173" name="Google Shape;173;p24"/>
          <p:cNvGrpSpPr/>
          <p:nvPr/>
        </p:nvGrpSpPr>
        <p:grpSpPr>
          <a:xfrm>
            <a:off x="304800" y="952500"/>
            <a:ext cx="8534400" cy="3429000"/>
            <a:chOff x="304800" y="952500"/>
            <a:chExt cx="8534400" cy="3429000"/>
          </a:xfrm>
        </p:grpSpPr>
        <p:sp>
          <p:nvSpPr>
            <p:cNvPr id="174" name="Google Shape;174;p24"/>
            <p:cNvSpPr/>
            <p:nvPr/>
          </p:nvSpPr>
          <p:spPr>
            <a:xfrm>
              <a:off x="304800" y="952500"/>
              <a:ext cx="8534400" cy="34290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5" name="Google Shape;175;p24"/>
            <p:cNvGrpSpPr/>
            <p:nvPr/>
          </p:nvGrpSpPr>
          <p:grpSpPr>
            <a:xfrm>
              <a:off x="495300" y="1143000"/>
              <a:ext cx="3962400" cy="952500"/>
              <a:chOff x="495300" y="1143000"/>
              <a:chExt cx="3962400" cy="952500"/>
            </a:xfrm>
          </p:grpSpPr>
          <p:sp>
            <p:nvSpPr>
              <p:cNvPr id="176" name="Google Shape;176;p24"/>
              <p:cNvSpPr/>
              <p:nvPr/>
            </p:nvSpPr>
            <p:spPr>
              <a:xfrm>
                <a:off x="495300" y="1143000"/>
                <a:ext cx="3962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24"/>
              <p:cNvSpPr txBox="1"/>
              <p:nvPr/>
            </p:nvSpPr>
            <p:spPr>
              <a:xfrm>
                <a:off x="638175" y="127330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42B883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layers</a:t>
                </a:r>
                <a:endParaRPr sz="2400">
                  <a:solidFill>
                    <a:srgbClr val="42B883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78" name="Google Shape;178;p24"/>
              <p:cNvSpPr txBox="1"/>
              <p:nvPr/>
            </p:nvSpPr>
            <p:spPr>
              <a:xfrm>
                <a:off x="1114425" y="1238250"/>
                <a:ext cx="32481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0F172A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Vue.js 3 + Composition API</a:t>
                </a:r>
                <a:endParaRPr b="1" sz="14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solidFill>
                      <a:srgbClr val="64748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Компонентний фреймворк, реактивність через Proxy</a:t>
                </a:r>
                <a:endParaRPr sz="11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79" name="Google Shape;179;p24"/>
            <p:cNvGrpSpPr/>
            <p:nvPr/>
          </p:nvGrpSpPr>
          <p:grpSpPr>
            <a:xfrm>
              <a:off x="4686300" y="1143000"/>
              <a:ext cx="3962400" cy="952500"/>
              <a:chOff x="4686300" y="1143000"/>
              <a:chExt cx="3962400" cy="952500"/>
            </a:xfrm>
          </p:grpSpPr>
          <p:sp>
            <p:nvSpPr>
              <p:cNvPr id="180" name="Google Shape;180;p24"/>
              <p:cNvSpPr/>
              <p:nvPr/>
            </p:nvSpPr>
            <p:spPr>
              <a:xfrm>
                <a:off x="4686300" y="1143000"/>
                <a:ext cx="3962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24"/>
              <p:cNvSpPr txBox="1"/>
              <p:nvPr/>
            </p:nvSpPr>
            <p:spPr>
              <a:xfrm>
                <a:off x="4829175" y="127330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FFD85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storage</a:t>
                </a:r>
                <a:endParaRPr sz="2400">
                  <a:solidFill>
                    <a:srgbClr val="FFD85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82" name="Google Shape;182;p24"/>
              <p:cNvSpPr txBox="1"/>
              <p:nvPr/>
            </p:nvSpPr>
            <p:spPr>
              <a:xfrm>
                <a:off x="5305425" y="1238250"/>
                <a:ext cx="32481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0F172A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Pinia</a:t>
                </a:r>
                <a:endParaRPr b="1" sz="14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solidFill>
                      <a:srgbClr val="64748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Управління станом (ролі, JWT, баланс гаманця)</a:t>
                </a:r>
                <a:endParaRPr sz="11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83" name="Google Shape;183;p24"/>
            <p:cNvGrpSpPr/>
            <p:nvPr/>
          </p:nvGrpSpPr>
          <p:grpSpPr>
            <a:xfrm>
              <a:off x="495300" y="2190750"/>
              <a:ext cx="3962400" cy="952500"/>
              <a:chOff x="495300" y="2190750"/>
              <a:chExt cx="3962400" cy="952500"/>
            </a:xfrm>
          </p:grpSpPr>
          <p:sp>
            <p:nvSpPr>
              <p:cNvPr id="184" name="Google Shape;184;p24"/>
              <p:cNvSpPr/>
              <p:nvPr/>
            </p:nvSpPr>
            <p:spPr>
              <a:xfrm>
                <a:off x="495300" y="2190750"/>
                <a:ext cx="3962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24"/>
              <p:cNvSpPr txBox="1"/>
              <p:nvPr/>
            </p:nvSpPr>
            <p:spPr>
              <a:xfrm>
                <a:off x="638175" y="23210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42B883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alt_route</a:t>
                </a:r>
                <a:endParaRPr sz="2400">
                  <a:solidFill>
                    <a:srgbClr val="42B883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86" name="Google Shape;186;p24"/>
              <p:cNvSpPr txBox="1"/>
              <p:nvPr/>
            </p:nvSpPr>
            <p:spPr>
              <a:xfrm>
                <a:off x="1114425" y="2286000"/>
                <a:ext cx="32481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0F172A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Vue Router</a:t>
                </a:r>
                <a:endParaRPr b="1" sz="14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solidFill>
                      <a:srgbClr val="64748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SPA-маршрутизація + Navigation Guards</a:t>
                </a:r>
                <a:endParaRPr sz="11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87" name="Google Shape;187;p24"/>
            <p:cNvGrpSpPr/>
            <p:nvPr/>
          </p:nvGrpSpPr>
          <p:grpSpPr>
            <a:xfrm>
              <a:off x="4686300" y="2190750"/>
              <a:ext cx="3962400" cy="952500"/>
              <a:chOff x="4686300" y="2190750"/>
              <a:chExt cx="3962400" cy="952500"/>
            </a:xfrm>
          </p:grpSpPr>
          <p:sp>
            <p:nvSpPr>
              <p:cNvPr id="188" name="Google Shape;188;p24"/>
              <p:cNvSpPr/>
              <p:nvPr/>
            </p:nvSpPr>
            <p:spPr>
              <a:xfrm>
                <a:off x="4686300" y="2190750"/>
                <a:ext cx="3962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24"/>
              <p:cNvSpPr txBox="1"/>
              <p:nvPr/>
            </p:nvSpPr>
            <p:spPr>
              <a:xfrm>
                <a:off x="4829175" y="23210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BD34FE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bolt</a:t>
                </a:r>
                <a:endParaRPr sz="2400">
                  <a:solidFill>
                    <a:srgbClr val="BD34FE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90" name="Google Shape;190;p24"/>
              <p:cNvSpPr txBox="1"/>
              <p:nvPr/>
            </p:nvSpPr>
            <p:spPr>
              <a:xfrm>
                <a:off x="5305425" y="2286000"/>
                <a:ext cx="32481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0F172A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Vite</a:t>
                </a:r>
                <a:endParaRPr b="1" sz="14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solidFill>
                      <a:srgbClr val="64748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Збірка з HMR, Lazy Loading (−40% bundle)</a:t>
                </a:r>
                <a:endParaRPr sz="11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91" name="Google Shape;191;p24"/>
            <p:cNvGrpSpPr/>
            <p:nvPr/>
          </p:nvGrpSpPr>
          <p:grpSpPr>
            <a:xfrm>
              <a:off x="495300" y="3238500"/>
              <a:ext cx="8153400" cy="952500"/>
              <a:chOff x="495300" y="3238500"/>
              <a:chExt cx="8153400" cy="952500"/>
            </a:xfrm>
          </p:grpSpPr>
          <p:sp>
            <p:nvSpPr>
              <p:cNvPr id="192" name="Google Shape;192;p24"/>
              <p:cNvSpPr/>
              <p:nvPr/>
            </p:nvSpPr>
            <p:spPr>
              <a:xfrm>
                <a:off x="495300" y="3238500"/>
                <a:ext cx="8153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24"/>
              <p:cNvSpPr txBox="1"/>
              <p:nvPr/>
            </p:nvSpPr>
            <p:spPr>
              <a:xfrm>
                <a:off x="638175" y="336880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EB542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admin_panel_settings</a:t>
                </a:r>
                <a:endParaRPr sz="2400">
                  <a:solidFill>
                    <a:srgbClr val="EB542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94" name="Google Shape;194;p24"/>
              <p:cNvSpPr txBox="1"/>
              <p:nvPr/>
            </p:nvSpPr>
            <p:spPr>
              <a:xfrm>
                <a:off x="1114425" y="3333750"/>
                <a:ext cx="74391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0F172A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Auth0</a:t>
                </a:r>
                <a:endParaRPr b="1" sz="14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solidFill>
                      <a:srgbClr val="64748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Зовнішня автентифікація (OAuth 2.0 / OIDC), JWT інтеграція через Axios</a:t>
                </a:r>
                <a:endParaRPr sz="11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pic>
        <p:nvPicPr>
          <p:cNvPr id="195" name="Google Shape;19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8778240" y="4606349"/>
            <a:ext cx="2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sz="3200"/>
              <a:t>Приклад реалізації</a:t>
            </a:r>
            <a:endParaRPr sz="3200"/>
          </a:p>
        </p:txBody>
      </p:sp>
      <p:pic>
        <p:nvPicPr>
          <p:cNvPr id="202" name="Google Shape;20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5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25" title="Screenshot 2026-05-22 at 18.03.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00" y="1319087"/>
            <a:ext cx="4267199" cy="250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5"/>
          <p:cNvPicPr preferRelativeResize="0"/>
          <p:nvPr/>
        </p:nvPicPr>
        <p:blipFill rotWithShape="1">
          <a:blip r:embed="rId5">
            <a:alphaModFix/>
          </a:blip>
          <a:srcRect b="670" l="0" r="0" t="-670"/>
          <a:stretch/>
        </p:blipFill>
        <p:spPr>
          <a:xfrm>
            <a:off x="4572000" y="1353025"/>
            <a:ext cx="4385750" cy="240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sz="3200"/>
              <a:t>Аналіз результатів</a:t>
            </a:r>
            <a:endParaRPr sz="3200"/>
          </a:p>
        </p:txBody>
      </p:sp>
      <p:sp>
        <p:nvSpPr>
          <p:cNvPr id="211" name="Google Shape;211;p2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0D0D0D"/>
                </a:solidFill>
                <a:highlight>
                  <a:srgbClr val="FFFFFF"/>
                </a:highlight>
              </a:rPr>
              <a:t>Усі вимоги SRS v1.0 виконано: Auth0 (OAuth 2.0/OIDC) — інтегровано повністю; Markdown-редактор CommonMark 0.31.2 — реалізовано; ReviewEditorView із 6 типами зауважень — реалізовано; Правило трьох кліків (UX) — дотримано; Адаптивність (mobile/desktop) — забезпечено; Кросбраузерність (Chrome, Firefox, Safari) — протестовано</a:t>
            </a:r>
            <a:endParaRPr>
              <a:solidFill>
                <a:srgbClr val="0D0D0D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12" name="Google Shape;21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6"/>
          <p:cNvSpPr txBox="1"/>
          <p:nvPr/>
        </p:nvSpPr>
        <p:spPr>
          <a:xfrm>
            <a:off x="8608900" y="4606350"/>
            <a:ext cx="45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sz="3200"/>
              <a:t>Висновки</a:t>
            </a:r>
            <a:endParaRPr sz="3200"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311700" y="754000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Спроектовано SPA-архітектуру на Vue.js 3 + Pinia + Vite + Auth0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Реалізовано Markdown-редактор з Live Preview та ReviewEditorView із Selection API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Впроваджено захист маршрутів та Unidirectional Data Flow для фінансового модуля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Система відповідає вимогам SRS v1.0; застосовна для освітніх peer-review платформ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Подальший розвиток: модуль модерації, i18n, рекурсивний парсинг для конфліктів підсвічування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220" name="Google Shape;22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7"/>
          <p:cNvSpPr txBox="1"/>
          <p:nvPr/>
        </p:nvSpPr>
        <p:spPr>
          <a:xfrm>
            <a:off x="8663978" y="4606350"/>
            <a:ext cx="39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